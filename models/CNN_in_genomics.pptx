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606" autoAdjust="0"/>
    <p:restoredTop sz="94660"/>
  </p:normalViewPr>
  <p:slideViewPr>
    <p:cSldViewPr snapToGrid="0">
      <p:cViewPr varScale="1">
        <p:scale>
          <a:sx n="81" d="100"/>
          <a:sy n="81" d="100"/>
        </p:scale>
        <p:origin x="955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E2396FB-7772-59FD-B4CE-FD25CD611C5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281F8C12-FF4E-4391-9F84-6E92B9572AC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2FB934A-C777-C24E-E889-94DF0CFA85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562B3C-F5FC-40EC-B9C2-C2FCD627D793}" type="datetimeFigureOut">
              <a:rPr lang="ru-RU" smtClean="0"/>
              <a:t>06.10.2025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D90489B-F37C-A118-18A3-ED1C3D8A65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A5AF987-8484-0E03-B76C-5D4DEAC7C1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469EA4-23CD-4619-A660-A2C02A94395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17019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5CB2861-2D95-7011-FD16-788E58B356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3DFABA7-D5A6-3B6D-59D4-0A70171242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2D3C72B-4854-E0A5-D05E-E00FA3E094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562B3C-F5FC-40EC-B9C2-C2FCD627D793}" type="datetimeFigureOut">
              <a:rPr lang="ru-RU" smtClean="0"/>
              <a:t>06.10.2025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BE95E58-E738-B11D-E1D7-B845882A91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25DD6D0-698E-682B-E5F3-5DC1025BDD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469EA4-23CD-4619-A660-A2C02A94395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312889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EAA77A5-7FA7-2001-1FE3-77C32A54C5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1366FDFE-961C-415C-9372-E43ED01217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4CC83F2-6DFE-1DE8-A1DA-C490DC1B28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562B3C-F5FC-40EC-B9C2-C2FCD627D793}" type="datetimeFigureOut">
              <a:rPr lang="ru-RU" smtClean="0"/>
              <a:t>06.10.2025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2321912-7DF1-39BB-3B55-A58A5896E7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FB552C1-8F0C-758E-6876-7C2FC77DB3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469EA4-23CD-4619-A660-A2C02A94395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209575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3858669-0B44-25EF-FFB5-3AF4CAA209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BC1C558-5CAA-A2CB-938B-36BE260DB29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7B7BD51A-6675-E9D2-40DB-5F84DA82A8F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080AFC11-015E-0195-FCB9-001DEC15AE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562B3C-F5FC-40EC-B9C2-C2FCD627D793}" type="datetimeFigureOut">
              <a:rPr lang="ru-RU" smtClean="0"/>
              <a:t>06.10.2025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2A510C75-532F-1C96-0F58-5D56E31771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A1DCE69D-86F6-7E56-01D7-892492A49D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469EA4-23CD-4619-A660-A2C02A94395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624730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78C3D5C-DB61-FF18-2AEB-D1C1D13562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2F2F49FF-AF9C-FB90-45EF-81ACFB306D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5D0E059A-41B4-4631-00A6-10521C74359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F50A2F61-DAB1-9DD8-7E5C-1183FB69D01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A785C663-8AA0-BC4F-5B88-A9BB9285046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22DE32B0-A227-A5CD-0221-B0DD9C23CD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562B3C-F5FC-40EC-B9C2-C2FCD627D793}" type="datetimeFigureOut">
              <a:rPr lang="ru-RU" smtClean="0"/>
              <a:t>06.10.2025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8BC2FF7A-3D83-C75B-9070-1BE8C307D8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25D11F0F-947F-223B-FAA1-BFCA0F4636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469EA4-23CD-4619-A660-A2C02A94395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00523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D8EF2CB-0733-2DBD-FED0-C28C6A45C8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4B67616F-A4B8-1524-09F8-D17FE5BA88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562B3C-F5FC-40EC-B9C2-C2FCD627D793}" type="datetimeFigureOut">
              <a:rPr lang="ru-RU" smtClean="0"/>
              <a:t>06.10.2025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3FB8123A-914C-FD1A-9299-24F785C78E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1413D1CB-877E-20C9-E07A-5EB7C2775E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469EA4-23CD-4619-A660-A2C02A94395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514804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1125D43B-E049-3986-BE15-E7F9584B82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562B3C-F5FC-40EC-B9C2-C2FCD627D793}" type="datetimeFigureOut">
              <a:rPr lang="ru-RU" smtClean="0"/>
              <a:t>06.10.2025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198F60AB-8F63-5475-F9DB-C1995D6C92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0479DEAD-805B-44E8-3E97-FA94A3585B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469EA4-23CD-4619-A660-A2C02A94395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694366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285BF3B-DDF7-69AF-F2EA-69A8E8067D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F09629F-3C95-D38D-BFD5-8458E0150C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99EBF5C0-425B-C75C-3DF4-516A966E6C9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8A1E3C39-3E58-9528-2D5B-BDAB10E109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562B3C-F5FC-40EC-B9C2-C2FCD627D793}" type="datetimeFigureOut">
              <a:rPr lang="ru-RU" smtClean="0"/>
              <a:t>06.10.2025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DD8770AF-1297-CC03-EB26-7A77246224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0020CC27-23EE-B988-EA15-75349414B8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469EA4-23CD-4619-A660-A2C02A94395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295393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B212703-E5F1-0B94-8898-95A0BB9699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D9A48B98-5F54-C2D3-E610-64AAC4B694B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8AE47100-AF53-065A-F24F-C6D2099171F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6D89035D-86E9-E67B-AEA1-D35C01C69A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562B3C-F5FC-40EC-B9C2-C2FCD627D793}" type="datetimeFigureOut">
              <a:rPr lang="ru-RU" smtClean="0"/>
              <a:t>06.10.2025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7823A291-C81C-6259-E9EA-415B690A2F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B87B88AC-6B56-9574-D752-016E605B6D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469EA4-23CD-4619-A660-A2C02A94395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351951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7C61F8C-5A8D-92AF-A1DC-71765A7EF8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608CEBF4-E82F-7BB6-D4C9-F184C181CA4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68A137D-A2CE-8A13-8A95-831779CF36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562B3C-F5FC-40EC-B9C2-C2FCD627D793}" type="datetimeFigureOut">
              <a:rPr lang="ru-RU" smtClean="0"/>
              <a:t>06.10.2025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F985C87-2963-D5AF-E515-F8756428BA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B22F7F6-A2C6-0827-4316-95F61C052A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469EA4-23CD-4619-A660-A2C02A94395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573479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C5872ACA-F32B-36BE-8C2E-8FA0BAE7AC8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6EF46008-0B53-AB8A-13B3-2C35C4068B8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CF6527F-42F8-E591-7669-7160BBA739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562B3C-F5FC-40EC-B9C2-C2FCD627D793}" type="datetimeFigureOut">
              <a:rPr lang="ru-RU" smtClean="0"/>
              <a:t>06.10.2025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D840061-2501-C07A-CCD6-3B63EE5C3B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1004117-2F2C-CEFD-0F16-070636C1D9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469EA4-23CD-4619-A660-A2C02A94395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038103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B6AF1D2-6182-FEB6-2A75-09A061513E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AC16AD5E-642D-6561-9195-4D07770DEA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815E934-4D68-5574-2A4A-64BC35ABA07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562B3C-F5FC-40EC-B9C2-C2FCD627D793}" type="datetimeFigureOut">
              <a:rPr lang="ru-RU" smtClean="0"/>
              <a:t>06.10.2025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25BEFAC-E471-2085-C77E-15E6C4A218B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C760124-BA42-96F1-50F6-5856CED637C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469EA4-23CD-4619-A660-A2C02A94395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56360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colab.research.google.com/drive/1Fomw7RYxYzBl4z8Qj3symquAVE5_Vuhf#scrollTo=nFCjPeid-O79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enecards.org/cgi-bin/carddisp.pl?gene=ZNF274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1BF8F0F-20D2-9796-E5F8-6E474BFAC96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924874"/>
            <a:ext cx="9144000" cy="2387600"/>
          </a:xfrm>
        </p:spPr>
        <p:txBody>
          <a:bodyPr>
            <a:normAutofit fontScale="90000"/>
          </a:bodyPr>
          <a:lstStyle/>
          <a:p>
            <a:r>
              <a:rPr lang="en-US" sz="11500" dirty="0"/>
              <a:t>CNN in genomic</a:t>
            </a:r>
            <a:endParaRPr lang="ru-RU" sz="115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B2A47FA-E02C-D483-3CAB-FEDE559FE720}"/>
              </a:ext>
            </a:extLst>
          </p:cNvPr>
          <p:cNvSpPr txBox="1"/>
          <p:nvPr/>
        </p:nvSpPr>
        <p:spPr>
          <a:xfrm>
            <a:off x="6629400" y="5933126"/>
            <a:ext cx="60944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2"/>
              </a:rPr>
              <a:t>Project1_CNN_in_genomic.ipynb - </a:t>
            </a:r>
            <a:r>
              <a:rPr lang="en-US" dirty="0" err="1">
                <a:hlinkClick r:id="rId2"/>
              </a:rPr>
              <a:t>Colab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7814397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3EF37DC-793D-653E-B010-358AF9E555AB}"/>
              </a:ext>
            </a:extLst>
          </p:cNvPr>
          <p:cNvSpPr txBox="1"/>
          <p:nvPr/>
        </p:nvSpPr>
        <p:spPr>
          <a:xfrm>
            <a:off x="2518528" y="179108"/>
            <a:ext cx="715494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400" b="1" dirty="0"/>
              <a:t>Введение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7AD985D5-C2C0-4FC1-6AA4-FD5F671BE1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0276" y="2177546"/>
            <a:ext cx="5419084" cy="40396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7DDF497-17D8-D723-E149-8AE03BE26578}"/>
              </a:ext>
            </a:extLst>
          </p:cNvPr>
          <p:cNvSpPr txBox="1"/>
          <p:nvPr/>
        </p:nvSpPr>
        <p:spPr>
          <a:xfrm>
            <a:off x="273377" y="640773"/>
            <a:ext cx="653277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i="1" dirty="0"/>
              <a:t>Цинковый палец </a:t>
            </a:r>
            <a:r>
              <a:rPr lang="ru-RU" dirty="0"/>
              <a:t>– белковый мотив, который координируется ионами цинка. В составе ТФ, распознает последовательности на ДНК/РНК с помощью донорно-акцепторных взаимодействий аминокислот и остатков азотистых оснований в большой бороздке</a:t>
            </a:r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23A2A0EC-9C34-E6B3-64A9-9A0A3A6164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27706" y="1613891"/>
            <a:ext cx="5268145" cy="4932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067241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719AC3E-A7BE-FF7E-D15F-C6C813CE38EC}"/>
              </a:ext>
            </a:extLst>
          </p:cNvPr>
          <p:cNvSpPr txBox="1"/>
          <p:nvPr/>
        </p:nvSpPr>
        <p:spPr>
          <a:xfrm>
            <a:off x="348792" y="207390"/>
            <a:ext cx="115855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b="1" i="1" dirty="0"/>
              <a:t>Задача</a:t>
            </a:r>
            <a:r>
              <a:rPr lang="ru-RU" sz="2400" dirty="0"/>
              <a:t> – обучить </a:t>
            </a:r>
            <a:r>
              <a:rPr lang="en-US" sz="2400" dirty="0"/>
              <a:t>CNN </a:t>
            </a:r>
            <a:r>
              <a:rPr lang="ru-RU" sz="2400" dirty="0"/>
              <a:t>распознавать участки ДНК, взаимодействующие с </a:t>
            </a:r>
            <a:r>
              <a:rPr lang="en-US" sz="2400" b="1" dirty="0"/>
              <a:t>Znf274</a:t>
            </a:r>
            <a:endParaRPr lang="ru-RU" sz="24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2F2FD1C-512B-116A-B582-A61B216F244F}"/>
              </a:ext>
            </a:extLst>
          </p:cNvPr>
          <p:cNvSpPr txBox="1"/>
          <p:nvPr/>
        </p:nvSpPr>
        <p:spPr>
          <a:xfrm>
            <a:off x="424206" y="970961"/>
            <a:ext cx="5326145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b="1" dirty="0"/>
              <a:t>Продукт белка: </a:t>
            </a:r>
            <a:r>
              <a:rPr lang="ru-RU" sz="2400" dirty="0"/>
              <a:t>возможный репрессор транскрипции, содержит 5 доменов цинкового пальца, 2 домена </a:t>
            </a:r>
            <a:r>
              <a:rPr lang="en-US" sz="2400" dirty="0"/>
              <a:t>KRAB A, </a:t>
            </a:r>
            <a:r>
              <a:rPr lang="ru-RU" sz="2400" dirty="0"/>
              <a:t>1 </a:t>
            </a:r>
            <a:r>
              <a:rPr lang="ru-RU" sz="2400" dirty="0" err="1"/>
              <a:t>лейциновый</a:t>
            </a:r>
            <a:r>
              <a:rPr lang="ru-RU" sz="2400" dirty="0"/>
              <a:t> домен</a:t>
            </a:r>
          </a:p>
          <a:p>
            <a:endParaRPr lang="ru-RU" sz="2400" dirty="0"/>
          </a:p>
          <a:p>
            <a:r>
              <a:rPr lang="ru-RU" sz="2400" b="1" dirty="0"/>
              <a:t>Локализация: </a:t>
            </a:r>
            <a:r>
              <a:rPr lang="ru-RU" sz="2400" dirty="0"/>
              <a:t>19 хромосома человека</a:t>
            </a:r>
          </a:p>
          <a:p>
            <a:endParaRPr lang="ru-RU" sz="2400" dirty="0"/>
          </a:p>
          <a:p>
            <a:r>
              <a:rPr lang="ru-RU" sz="2400" b="1" dirty="0"/>
              <a:t>Количество экзонов: </a:t>
            </a:r>
            <a:r>
              <a:rPr lang="ru-RU" sz="2400" dirty="0"/>
              <a:t>8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F107ECAE-A058-7966-F9D8-1A07654E10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06509" y="1236272"/>
            <a:ext cx="5761285" cy="438545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BC5553B-F40E-BADF-76C1-63FA2B655470}"/>
              </a:ext>
            </a:extLst>
          </p:cNvPr>
          <p:cNvSpPr txBox="1"/>
          <p:nvPr/>
        </p:nvSpPr>
        <p:spPr>
          <a:xfrm>
            <a:off x="6662424" y="5547912"/>
            <a:ext cx="56262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3</a:t>
            </a:r>
            <a:r>
              <a:rPr lang="en-US" dirty="0"/>
              <a:t>d – </a:t>
            </a:r>
            <a:r>
              <a:rPr lang="ru-RU" dirty="0"/>
              <a:t>структура, полученная в </a:t>
            </a:r>
            <a:r>
              <a:rPr lang="en-US" dirty="0"/>
              <a:t>AlphaFold2</a:t>
            </a:r>
            <a:endParaRPr lang="ru-RU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D9E05E7-29D7-E9E1-BF16-707C274E3E2B}"/>
              </a:ext>
            </a:extLst>
          </p:cNvPr>
          <p:cNvSpPr txBox="1"/>
          <p:nvPr/>
        </p:nvSpPr>
        <p:spPr>
          <a:xfrm>
            <a:off x="5750351" y="6094599"/>
            <a:ext cx="61461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3"/>
              </a:rPr>
              <a:t>ZNF274 Gene - </a:t>
            </a:r>
            <a:r>
              <a:rPr lang="en-US" dirty="0" err="1">
                <a:hlinkClick r:id="rId3"/>
              </a:rPr>
              <a:t>GeneCards</a:t>
            </a:r>
            <a:r>
              <a:rPr lang="en-US" dirty="0">
                <a:hlinkClick r:id="rId3"/>
              </a:rPr>
              <a:t> | ZN274 Protein | ZN274 Antibody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385112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95C1C91-80AD-E070-FBD0-B585437C9CBC}"/>
              </a:ext>
            </a:extLst>
          </p:cNvPr>
          <p:cNvSpPr txBox="1"/>
          <p:nvPr/>
        </p:nvSpPr>
        <p:spPr>
          <a:xfrm>
            <a:off x="2187615" y="139426"/>
            <a:ext cx="83453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400" b="1" dirty="0"/>
              <a:t>Этап 1: предобработка данных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CFD8315-D018-ABE3-EADB-45D4DB36E7F6}"/>
              </a:ext>
            </a:extLst>
          </p:cNvPr>
          <p:cNvSpPr txBox="1"/>
          <p:nvPr/>
        </p:nvSpPr>
        <p:spPr>
          <a:xfrm>
            <a:off x="366125" y="950306"/>
            <a:ext cx="5553908" cy="54499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sz="2000" b="0" dirty="0">
                <a:solidFill>
                  <a:srgbClr val="0000FF"/>
                </a:solidFill>
                <a:effectLst/>
                <a:latin typeface="Courier New" panose="02070309020205020404" pitchFamily="49" charset="0"/>
              </a:rPr>
              <a:t>class</a:t>
            </a:r>
            <a:r>
              <a:rPr lang="en-US" sz="20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sz="2000" b="0" dirty="0" err="1">
                <a:solidFill>
                  <a:srgbClr val="257693"/>
                </a:solidFill>
                <a:effectLst/>
                <a:latin typeface="Courier New" panose="02070309020205020404" pitchFamily="49" charset="0"/>
              </a:rPr>
              <a:t>DNAparser</a:t>
            </a:r>
            <a:endParaRPr lang="ru-RU" sz="2000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ru-RU" sz="2000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ru-RU" sz="2000" b="0" dirty="0">
                <a:solidFill>
                  <a:srgbClr val="000000"/>
                </a:solidFill>
                <a:effectLst/>
              </a:rPr>
              <a:t>Содержит 2 главных метода: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 err="1"/>
              <a:t>parser.get_target_class</a:t>
            </a:r>
            <a:r>
              <a:rPr lang="en-US" sz="2000" dirty="0"/>
              <a:t>()</a:t>
            </a:r>
            <a:r>
              <a:rPr lang="ru-RU" sz="2000" dirty="0"/>
              <a:t>: Считывает </a:t>
            </a:r>
            <a:r>
              <a:rPr lang="en-US" sz="2000" dirty="0"/>
              <a:t>.bed</a:t>
            </a:r>
            <a:r>
              <a:rPr lang="ru-RU" sz="2000" dirty="0"/>
              <a:t> файл с результатами обнаружения в геноме последовательностей, которые взаимодействуют с </a:t>
            </a:r>
            <a:r>
              <a:rPr lang="en-US" sz="2000" b="1" dirty="0"/>
              <a:t>Znf274</a:t>
            </a:r>
            <a:r>
              <a:rPr lang="ru-RU" sz="2000" b="1" dirty="0"/>
              <a:t>, </a:t>
            </a:r>
            <a:r>
              <a:rPr lang="ru-RU" sz="2000" dirty="0"/>
              <a:t>берет середину интервала и откладывает от нее по 100 нуклеотидов, из готовых координат составляется датасет последовательностей заданной длины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 err="1"/>
              <a:t>parser.get_others_class</a:t>
            </a:r>
            <a:r>
              <a:rPr lang="en-US" sz="2000" dirty="0"/>
              <a:t>()</a:t>
            </a:r>
            <a:r>
              <a:rPr lang="ru-RU" sz="2000" dirty="0"/>
              <a:t>: Считывает </a:t>
            </a:r>
            <a:r>
              <a:rPr lang="en-US" sz="2000" dirty="0"/>
              <a:t>.</a:t>
            </a:r>
            <a:r>
              <a:rPr lang="en-US" sz="2000" dirty="0" err="1"/>
              <a:t>fasta</a:t>
            </a:r>
            <a:r>
              <a:rPr lang="ru-RU" sz="2000" dirty="0"/>
              <a:t> файл с геномной сборки </a:t>
            </a:r>
            <a:r>
              <a:rPr lang="en-US" sz="2000" dirty="0"/>
              <a:t>hg38</a:t>
            </a:r>
            <a:r>
              <a:rPr lang="ru-RU" sz="2000" dirty="0"/>
              <a:t>, делит его на неперекрывающиеся участки по 200 нуклеотидов, затем выбирает только те, которые не перекрываются с исходным </a:t>
            </a:r>
            <a:r>
              <a:rPr lang="en-US" sz="2000" dirty="0"/>
              <a:t>.bed</a:t>
            </a:r>
            <a:r>
              <a:rPr lang="ru-RU" sz="2000" dirty="0"/>
              <a:t>-файлом и заносит в датасет</a:t>
            </a:r>
            <a:endParaRPr lang="en-US" sz="2000" dirty="0"/>
          </a:p>
          <a:p>
            <a:pPr>
              <a:lnSpc>
                <a:spcPts val="1425"/>
              </a:lnSpc>
              <a:buNone/>
            </a:pPr>
            <a:endParaRPr lang="en-US" sz="2000" b="0" dirty="0">
              <a:solidFill>
                <a:srgbClr val="000000"/>
              </a:solidFill>
              <a:effectLst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E029FD1-3E48-A8B4-54BE-F7D3A44E13E1}"/>
              </a:ext>
            </a:extLst>
          </p:cNvPr>
          <p:cNvSpPr txBox="1"/>
          <p:nvPr/>
        </p:nvSpPr>
        <p:spPr>
          <a:xfrm>
            <a:off x="6096000" y="988914"/>
            <a:ext cx="6094070" cy="8333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sz="2000" b="0" dirty="0">
                <a:solidFill>
                  <a:srgbClr val="0000FF"/>
                </a:solidFill>
                <a:effectLst/>
                <a:latin typeface="Courier New" panose="02070309020205020404" pitchFamily="49" charset="0"/>
              </a:rPr>
              <a:t>class</a:t>
            </a:r>
            <a:r>
              <a:rPr lang="en-US" sz="20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sz="2000" b="0" dirty="0" err="1">
                <a:solidFill>
                  <a:srgbClr val="0000FF"/>
                </a:solidFill>
                <a:effectLst/>
                <a:latin typeface="Courier New" panose="02070309020205020404" pitchFamily="49" charset="0"/>
              </a:rPr>
              <a:t>class</a:t>
            </a:r>
            <a:r>
              <a:rPr lang="en-US" sz="20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sz="2000" b="0" dirty="0" err="1">
                <a:solidFill>
                  <a:srgbClr val="257693"/>
                </a:solidFill>
                <a:effectLst/>
                <a:latin typeface="Courier New" panose="02070309020205020404" pitchFamily="49" charset="0"/>
              </a:rPr>
              <a:t>DNAData</a:t>
            </a:r>
            <a:r>
              <a:rPr lang="en-US" sz="20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sz="2000" b="0" dirty="0">
                <a:solidFill>
                  <a:srgbClr val="257693"/>
                </a:solidFill>
                <a:effectLst/>
                <a:latin typeface="Courier New" panose="02070309020205020404" pitchFamily="49" charset="0"/>
              </a:rPr>
              <a:t>Dataset</a:t>
            </a:r>
            <a:r>
              <a:rPr lang="en-US" sz="20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endParaRPr lang="ru-RU" sz="2000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ru-RU" sz="2000" b="0" dirty="0">
                <a:solidFill>
                  <a:srgbClr val="000000"/>
                </a:solidFill>
                <a:effectLst/>
              </a:rPr>
              <a:t>Получает на вход датасет с последовательностями, кодирует их и переводит в тензор (4 х </a:t>
            </a:r>
            <a:r>
              <a:rPr lang="ru-RU" sz="2000" dirty="0">
                <a:solidFill>
                  <a:srgbClr val="000000"/>
                </a:solidFill>
              </a:rPr>
              <a:t>200)</a:t>
            </a:r>
            <a:r>
              <a:rPr lang="ru-RU" sz="2000" b="0" dirty="0">
                <a:solidFill>
                  <a:srgbClr val="000000"/>
                </a:solidFill>
                <a:effectLst/>
              </a:rPr>
              <a:t> </a:t>
            </a:r>
            <a:endParaRPr lang="en-US" sz="2000" b="0" dirty="0">
              <a:solidFill>
                <a:srgbClr val="000000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7790017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84C82C8-7D37-E28F-9E6C-086523AB3DD0}"/>
              </a:ext>
            </a:extLst>
          </p:cNvPr>
          <p:cNvSpPr txBox="1"/>
          <p:nvPr/>
        </p:nvSpPr>
        <p:spPr>
          <a:xfrm>
            <a:off x="2216870" y="94267"/>
            <a:ext cx="77582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400" b="1" dirty="0"/>
              <a:t>Архитектура </a:t>
            </a:r>
            <a:r>
              <a:rPr lang="en-US" sz="2400" b="1" dirty="0"/>
              <a:t>CNN</a:t>
            </a:r>
            <a:endParaRPr lang="ru-RU" sz="2400" b="1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E60E7857-63BF-0665-B808-8D16651FAE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670" y="1265669"/>
            <a:ext cx="5425348" cy="462244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DD63F97-4B58-4BF5-2A11-3CA51AFC3CA3}"/>
              </a:ext>
            </a:extLst>
          </p:cNvPr>
          <p:cNvSpPr txBox="1"/>
          <p:nvPr/>
        </p:nvSpPr>
        <p:spPr>
          <a:xfrm>
            <a:off x="636531" y="655285"/>
            <a:ext cx="538270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3 </a:t>
            </a:r>
            <a:r>
              <a:rPr lang="ru-RU" sz="2400" dirty="0"/>
              <a:t>сверточных слоя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09B6E94C-BC8B-97EC-DC64-D4A9B14F14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32938" y="1219997"/>
            <a:ext cx="3343742" cy="254353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EA17261-041E-21B2-A8F0-AC5576469758}"/>
              </a:ext>
            </a:extLst>
          </p:cNvPr>
          <p:cNvSpPr txBox="1"/>
          <p:nvPr/>
        </p:nvSpPr>
        <p:spPr>
          <a:xfrm>
            <a:off x="6809295" y="655286"/>
            <a:ext cx="538270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400" dirty="0"/>
              <a:t>4 </a:t>
            </a:r>
            <a:r>
              <a:rPr lang="ru-RU" sz="2400" dirty="0" err="1"/>
              <a:t>полносвязных</a:t>
            </a:r>
            <a:r>
              <a:rPr lang="ru-RU" sz="2400" dirty="0"/>
              <a:t> слоя</a:t>
            </a:r>
          </a:p>
        </p:txBody>
      </p:sp>
      <p:pic>
        <p:nvPicPr>
          <p:cNvPr id="1026" name="Picture 2" descr="Picture background">
            <a:extLst>
              <a:ext uri="{FF2B5EF4-FFF2-40B4-BE49-F238E27FC236}">
                <a16:creationId xmlns:a16="http://schemas.microsoft.com/office/drawing/2014/main" id="{D0FE6F5E-F414-97FD-2017-4026E18CEE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48964" y="4284216"/>
            <a:ext cx="4303366" cy="23989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2D21AEF9-50A5-C333-74DD-36ED403FDD58}"/>
              </a:ext>
            </a:extLst>
          </p:cNvPr>
          <p:cNvSpPr txBox="1"/>
          <p:nvPr/>
        </p:nvSpPr>
        <p:spPr>
          <a:xfrm>
            <a:off x="7732938" y="3884563"/>
            <a:ext cx="33437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GELU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2164246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3AB65EA-A8B8-E53E-9339-1A78680D23DC}"/>
              </a:ext>
            </a:extLst>
          </p:cNvPr>
          <p:cNvSpPr txBox="1"/>
          <p:nvPr/>
        </p:nvSpPr>
        <p:spPr>
          <a:xfrm>
            <a:off x="2669356" y="226243"/>
            <a:ext cx="685328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400" b="1" dirty="0"/>
              <a:t>Параметры обучения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8D9014B0-4C72-C8E7-CF68-5BDDB243D79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62332" r="8326"/>
          <a:stretch>
            <a:fillRect/>
          </a:stretch>
        </p:blipFill>
        <p:spPr>
          <a:xfrm>
            <a:off x="578177" y="1368002"/>
            <a:ext cx="8177717" cy="135634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4645A8A-B826-8332-846B-D66F785C8C22}"/>
              </a:ext>
            </a:extLst>
          </p:cNvPr>
          <p:cNvSpPr txBox="1"/>
          <p:nvPr/>
        </p:nvSpPr>
        <p:spPr>
          <a:xfrm>
            <a:off x="8691513" y="1032259"/>
            <a:ext cx="2837468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400" dirty="0"/>
              <a:t>Размер выборки: 9922 классов 1, 9922 классов 0</a:t>
            </a: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400" dirty="0"/>
              <a:t>Размер </a:t>
            </a:r>
            <a:r>
              <a:rPr lang="ru-RU" sz="2400" dirty="0" err="1"/>
              <a:t>батча</a:t>
            </a:r>
            <a:r>
              <a:rPr lang="ru-RU" sz="2400" dirty="0"/>
              <a:t>: 1024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400" dirty="0"/>
              <a:t>Число эпох: 15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err="1"/>
              <a:t>Learning_rate</a:t>
            </a:r>
            <a:r>
              <a:rPr lang="en-US" sz="2400" dirty="0"/>
              <a:t>: 5e-3</a:t>
            </a:r>
            <a:endParaRPr lang="ru-RU" sz="2400" dirty="0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B8B5335F-7C47-6780-3C25-0F6A556C14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8177" y="4348497"/>
            <a:ext cx="8471139" cy="10483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25088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426EF84-C1C4-75B3-737D-DCD12477FE34}"/>
              </a:ext>
            </a:extLst>
          </p:cNvPr>
          <p:cNvSpPr txBox="1"/>
          <p:nvPr/>
        </p:nvSpPr>
        <p:spPr>
          <a:xfrm>
            <a:off x="3126557" y="117959"/>
            <a:ext cx="59388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400" b="1" dirty="0"/>
              <a:t>Результаты обучения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F8D148B7-ABA3-4A4B-F534-BC21728E1C3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71738"/>
          <a:stretch>
            <a:fillRect/>
          </a:stretch>
        </p:blipFill>
        <p:spPr>
          <a:xfrm>
            <a:off x="396367" y="718862"/>
            <a:ext cx="7993384" cy="271013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22D615C-00F8-9B83-3A98-9087AD3A1F4A}"/>
              </a:ext>
            </a:extLst>
          </p:cNvPr>
          <p:cNvSpPr txBox="1"/>
          <p:nvPr/>
        </p:nvSpPr>
        <p:spPr>
          <a:xfrm>
            <a:off x="480767" y="3667027"/>
            <a:ext cx="5901621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/>
              <a:t>Модель хорошо определяет класс 1 к классу 1, но при этом часть элементов из класса 0 она определяет в класс 1.</a:t>
            </a:r>
          </a:p>
          <a:p>
            <a:r>
              <a:rPr lang="ru-RU" sz="2000" i="1" dirty="0"/>
              <a:t>Гипотеза</a:t>
            </a:r>
            <a:r>
              <a:rPr lang="ru-RU" sz="2000" dirty="0"/>
              <a:t>: в выборке есть последовательности с менее сильным консенсусом, модель учиться их распознавать и при этом путает с ними последовательности и класса 0, которые действительно могут иметь не так много различий</a:t>
            </a: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1ABF96D2-1E66-E66A-7D61-963DC20C4F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1416" y="1003221"/>
            <a:ext cx="5339817" cy="46080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9240576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109</TotalTime>
  <Words>324</Words>
  <Application>Microsoft Office PowerPoint</Application>
  <PresentationFormat>Широкоэкранный</PresentationFormat>
  <Paragraphs>34</Paragraphs>
  <Slides>7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7</vt:i4>
      </vt:variant>
    </vt:vector>
  </HeadingPairs>
  <TitlesOfParts>
    <vt:vector size="12" baseType="lpstr">
      <vt:lpstr>Arial</vt:lpstr>
      <vt:lpstr>Calibri</vt:lpstr>
      <vt:lpstr>Calibri Light</vt:lpstr>
      <vt:lpstr>Courier New</vt:lpstr>
      <vt:lpstr>Тема Office</vt:lpstr>
      <vt:lpstr>CNN in genomic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Добровольская Кристина</dc:creator>
  <cp:lastModifiedBy>Добровольская Кристина</cp:lastModifiedBy>
  <cp:revision>8</cp:revision>
  <dcterms:created xsi:type="dcterms:W3CDTF">2025-10-06T08:21:26Z</dcterms:created>
  <dcterms:modified xsi:type="dcterms:W3CDTF">2025-10-06T16:08:24Z</dcterms:modified>
</cp:coreProperties>
</file>